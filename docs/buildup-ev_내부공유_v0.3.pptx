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pPr algn="ctr" indent="0" marL="0">
              <a:buNone/>
            </a:pPr>
            <a:r>
              <a:rPr lang="en-US" sz="20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0" y="1783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buildup-ev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전기 특장차 3D 차량구성 · 견적 · 발주 · 구조변경 서류 자동화 플랫폼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0" y="3383280"/>
            <a:ext cx="3657600" cy="32004"/>
          </a:xfrm>
          <a:prstGeom prst="rect">
            <a:avLst/>
          </a:prstGeom>
          <a:solidFill>
            <a:srgbClr val="C8D20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520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개요 — 전체 틀 · 데이터 구조 · 개발 역할분담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526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EV&amp;Solution 제품개발팀 · 내부 공유용 v0.3 (회의 반영)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pPr indent="0" marL="0">
              <a:buNone/>
            </a:pPr>
            <a:r>
              <a:rPr lang="en-US" sz="13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배경 — 왜 직접 만드나 (현재 → 목표)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 (외주에 의존)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114800" cy="411480"/>
          </a:xfrm>
          <a:prstGeom prst="rect">
            <a:avLst/>
          </a:prstGeom>
          <a:solidFill>
            <a:srgbClr val="C8D200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280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 (EV&amp;가 직접 소유)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4114800" cy="237744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외주(플래닝고)가 외부 3D 솔루션(VIVAR) 위에 만든 화면 하나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+ 옵션선택 + 견적이 한 페이지에 다 들어있음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= 특장 부품 원가 합산 (고객 실구매가가 아님)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소유권·확장성·데이터·견적 통제가 우리 손에 없음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4114800" cy="237744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745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EV&amp;가 직접 개발·소유하는 웹 플랫폼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화면만 VIVAR로 띄우고, 나머지는 전부 EV&amp;가 개발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3개로 분리 — 영업 · 특장사 · 관리자 + 권한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= 고객 실구매가(보조금·세율·등록비 반영)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solidFill>
            <a:srgbClr val="FFFDE6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4251960"/>
            <a:ext cx="64008" cy="548640"/>
          </a:xfrm>
          <a:prstGeom prst="rect">
            <a:avLst/>
          </a:prstGeom>
          <a:solidFill>
            <a:srgbClr val="C8D20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251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경계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VIVAR = 3D 시각화 전용  /  견적·보조금·세율·서류·권한·데이터 = 100% EV&amp; 소유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pPr indent="0" marL="0">
              <a:buNone/>
            </a:pPr>
            <a:r>
              <a:rPr lang="en-US" sz="13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전체 틀 — 세 사용자 화면 &amp; 주문 흐름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06624" cy="457200"/>
          </a:xfrm>
          <a:prstGeom prst="rect">
            <a:avLst/>
          </a:prstGeom>
          <a:solidFill>
            <a:srgbClr val="C8D20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06624" cy="178308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8105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EV&amp; 영업 · 대리점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2121408"/>
            <a:ext cx="2487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옵션선택 → 견적 → 주문 전환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보조금 자격(지역+소상공인→가용 보조금) 표시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진행 조회 (제작·구변은 진행상황만)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280160"/>
            <a:ext cx="2706624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3218688" y="128016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18688" y="1737360"/>
            <a:ext cx="2706624" cy="178308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3" name="Text 11"/>
          <p:cNvSpPr/>
          <p:nvPr/>
        </p:nvSpPr>
        <p:spPr>
          <a:xfrm>
            <a:off x="3328416" y="18105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EV&amp; 내부 · 중앙 관리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28416" y="2121408"/>
            <a:ext cx="2487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영업↔특장사 주문흐름 관제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상담기록·전체 세부 조회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보조금 DB 중앙관리 (연 갱신)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280160"/>
            <a:ext cx="2706624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6" name="Text 14"/>
          <p:cNvSpPr/>
          <p:nvPr/>
        </p:nvSpPr>
        <p:spPr>
          <a:xfrm>
            <a:off x="6071616" y="128016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특장사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71616" y="1737360"/>
            <a:ext cx="2706624" cy="178308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8" name="Text 16"/>
          <p:cNvSpPr/>
          <p:nvPr/>
        </p:nvSpPr>
        <p:spPr>
          <a:xfrm>
            <a:off x="6181344" y="181051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외주 특장사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81344" y="2121408"/>
            <a:ext cx="24871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픽스 견적·고객정보 → 행정서류·작업지시서 자동생성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부품·원자재 분리 원가 관리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구조변경 튜닝승인 신청까지 (영업기록 X)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657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진행 단계  (영업 → 관리자 검증 → 특장사)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31920"/>
            <a:ext cx="1051560" cy="56692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3931920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상담·견적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33779" y="393192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37944" y="3931920"/>
            <a:ext cx="1051560" cy="56692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25" name="Text 23"/>
          <p:cNvSpPr/>
          <p:nvPr/>
        </p:nvSpPr>
        <p:spPr>
          <a:xfrm>
            <a:off x="1874520" y="3931920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보조금 조회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05963" y="393192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0128" y="3931920"/>
            <a:ext cx="1051560" cy="56692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28" name="Text 26"/>
          <p:cNvSpPr/>
          <p:nvPr/>
        </p:nvSpPr>
        <p:spPr>
          <a:xfrm>
            <a:off x="3346704" y="3931920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견적확정·주문전환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78147" y="393192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82312" y="3931920"/>
            <a:ext cx="1051560" cy="56692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3931920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검증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50331" y="393192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54496" y="3931920"/>
            <a:ext cx="1051560" cy="56692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34" name="Text 32"/>
          <p:cNvSpPr/>
          <p:nvPr/>
        </p:nvSpPr>
        <p:spPr>
          <a:xfrm>
            <a:off x="6291072" y="3931920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특장사 제작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22515" y="393192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26680" y="3931920"/>
            <a:ext cx="1051560" cy="566928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37" name="Text 35"/>
          <p:cNvSpPr/>
          <p:nvPr/>
        </p:nvSpPr>
        <p:spPr>
          <a:xfrm>
            <a:off x="7763256" y="3931920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구조변경→튜닝신청→안전검사→튜닝승인→인도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pPr indent="0" marL="0">
              <a:buNone/>
            </a:pPr>
            <a:r>
              <a:rPr lang="en-US" sz="13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시스템 구성 모듈 &amp; 담당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194560" cy="246888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219456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플래닝고 (VIVAR)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차량구성·렌더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 → 3D 모델 생성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치수 산출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정면·측면·후면 도면 추출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371600"/>
            <a:ext cx="6035040" cy="246888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1371600"/>
            <a:ext cx="6035040" cy="411480"/>
          </a:xfrm>
          <a:prstGeom prst="rect">
            <a:avLst/>
          </a:prstGeom>
          <a:solidFill>
            <a:srgbClr val="C8D20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371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EV&amp; 소유 모듈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26080" y="1874520"/>
            <a:ext cx="5760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 선택 화면   ·   영업 견적(옵션 기반)   ·   특장 원가(원가 기반)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하중계산·법규검토   ·   서류 자동생성(제원대비표·외관도·작업지시서)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주문·업무 흐름   ·   문서 보관함   ·   로그인·역할별 권한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기준데이터 관리(등록·수정·삭제)   ·   전자서명·계약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인허가·검사 진행관리   (튜닝신청 접수는 특장사가 직접)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추후: 차량제원 자동조회 · 알림 · 고객관리   |   신용조회·결제 = 이번 범위 아님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solidFill>
            <a:srgbClr val="FFFDE6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4069080"/>
            <a:ext cx="64008" cy="548640"/>
          </a:xfrm>
          <a:prstGeom prst="rect">
            <a:avLst/>
          </a:prstGeom>
          <a:solidFill>
            <a:srgbClr val="C8D20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VIVAR는 치수·도면만 제공 · 무게·원가·하중·견적·서류 계산은 전부 EV&amp;가 수행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pPr indent="0" marL="0">
              <a:buNone/>
            </a:pPr>
            <a:r>
              <a:rPr lang="en-US" sz="13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데이터 흐름도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325880" cy="548640"/>
          </a:xfrm>
          <a:prstGeom prst="rect">
            <a:avLst/>
          </a:prstGeom>
          <a:solidFill>
            <a:srgbClr val="E8EC9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5544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 선택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(EV&amp;)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31720" y="1554480"/>
            <a:ext cx="1417320" cy="548640"/>
          </a:xfrm>
          <a:prstGeom prst="rect">
            <a:avLst/>
          </a:prstGeom>
          <a:solidFill>
            <a:srgbClr val="99999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9152" y="155448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VIVAR 3D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(플래닝고)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155448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155448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무게·원가 엔진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(EV&amp;)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55080" y="1554480"/>
            <a:ext cx="1143000" cy="54864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554480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하중계산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0" y="1554480"/>
            <a:ext cx="1097280" cy="548640"/>
          </a:xfrm>
          <a:prstGeom prst="rect">
            <a:avLst/>
          </a:prstGeom>
          <a:solidFill>
            <a:srgbClr val="C8D2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08392" y="155448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제원대비표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31720" y="2697480"/>
            <a:ext cx="1417320" cy="548640"/>
          </a:xfrm>
          <a:prstGeom prst="rect">
            <a:avLst/>
          </a:prstGeom>
          <a:solidFill>
            <a:srgbClr val="C8D2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69748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외관도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2697480"/>
            <a:ext cx="1554480" cy="548640"/>
          </a:xfrm>
          <a:prstGeom prst="rect">
            <a:avLst/>
          </a:prstGeom>
          <a:solidFill>
            <a:srgbClr val="E8EC9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25112" y="269748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원자재·부품 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55080" y="2697480"/>
            <a:ext cx="1143000" cy="548640"/>
          </a:xfrm>
          <a:prstGeom prst="rect">
            <a:avLst/>
          </a:prstGeom>
          <a:solidFill>
            <a:srgbClr val="C8D2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697480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특장 원가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1325880" cy="548640"/>
          </a:xfrm>
          <a:prstGeom prst="rect">
            <a:avLst/>
          </a:prstGeom>
          <a:solidFill>
            <a:srgbClr val="E8EC9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8862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가격·보조금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(관리자)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31720" y="3886200"/>
            <a:ext cx="1417320" cy="548640"/>
          </a:xfrm>
          <a:prstGeom prst="rect">
            <a:avLst/>
          </a:prstGeom>
          <a:solidFill>
            <a:srgbClr val="C8D2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59152" y="3886200"/>
            <a:ext cx="1362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견적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91640" y="1828800"/>
            <a:ext cx="6400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600200" y="1709928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옵션값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49040" y="1828800"/>
            <a:ext cx="54864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611880" y="1709928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치수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52160" y="1828800"/>
            <a:ext cx="50292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692140" y="1709928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무게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98080" y="1828800"/>
            <a:ext cx="1828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035808" y="2121408"/>
            <a:ext cx="0" cy="576072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624328" y="2290572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도면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74920" y="2697480"/>
            <a:ext cx="0" cy="-576072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4663440" y="2290572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단가·무게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49240" y="2121408"/>
            <a:ext cx="1143000" cy="576072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509260" y="2290572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24128" y="2121408"/>
            <a:ext cx="1444752" cy="1764792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1335024" y="2884932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옵션값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691640" y="4160520"/>
            <a:ext cx="6400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600200" y="4041648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+가격·보조금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플래닝고(VIVAR)   </a:t>
            </a:r>
            <a:pPr indent="0" marL="0">
              <a:buNone/>
            </a:pPr>
            <a:r>
              <a:rPr lang="en-US" sz="9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EV&amp; 엔진   </a:t>
            </a:r>
            <a:pPr indent="0" marL="0">
              <a:buNone/>
            </a:pPr>
            <a:r>
              <a:rPr lang="en-US" sz="950" dirty="0">
                <a:solidFill>
                  <a:srgbClr val="E8E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입력·DB   </a:t>
            </a:r>
            <a:pPr indent="0" marL="0">
              <a:buNone/>
            </a:pPr>
            <a:r>
              <a:rPr lang="en-US" sz="950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산출물·견적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pPr indent="0" marL="0">
              <a:buNone/>
            </a:pPr>
            <a:r>
              <a:rPr lang="en-US" sz="13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개발 역할분담 — 플래닝고 vs EV&amp;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 / 영역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담당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차량구성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플래닝고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옵션→3D 생성 · 치수 산출 · 정면·측면·후면 도면 추출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옵션·견적·원가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EV&amp;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옵션 선택 화면 · 영업견적(옵션 기반) · 특장원가(원가 기반)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하중계산·법규·서류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EV&amp;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하중분포·적합판정 · 제원대비표 · 외관도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주문·문서·권한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EV&amp;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업무 흐름 · 문서보관함 · 역할별 권한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기준데이터 관리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EV&amp;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가격·보조금·원자재·구성표(BOM)·제원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FFFDE6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4297680"/>
            <a:ext cx="64008" cy="548640"/>
          </a:xfrm>
          <a:prstGeom prst="rect">
            <a:avLst/>
          </a:prstGeom>
          <a:solidFill>
            <a:srgbClr val="C8D20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VIVAR ↔ EV&amp; 데이터 주고받기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EV&amp;→VIVAR: 선택 옵션  /  VIVAR→EV&amp;: 치수 묶음 + 도면 이미지  (계산은 전부 EV&amp;)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pPr indent="0" marL="0">
              <a:buNone/>
            </a:pPr>
            <a:r>
              <a:rPr lang="en-US" sz="13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데이터베이스 구조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206240" cy="411480"/>
          </a:xfrm>
          <a:prstGeom prst="rect">
            <a:avLst/>
          </a:prstGeom>
          <a:solidFill>
            <a:srgbClr val="C8D20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 데이터 — 관리자 페이지에서 관리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02336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2801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데이터 — 시스템 자동 축적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4206240" cy="2286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47088"/>
            <a:ext cx="3840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차종마스터 · OEM제원 · 최대허용제원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옵션그룹 / 옵션값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옵션가격(트림·탑·도어·온도계·격벽)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보조금(지역별, 연 갱신) · 세율·등록비용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원자재·부품 마스터 · 공정·인건비 · 마진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BOM(구성표) · 타이어DB · 도면 라이브러리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023360" cy="228600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847088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(확정 시점 저장)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(진행상태)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주문옵션 (주문별 선택 옵션)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문서보관함 (자동생성 + 수동업로드)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FFFDE6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4160520"/>
            <a:ext cx="64008" cy="658368"/>
          </a:xfrm>
          <a:prstGeom prst="rect">
            <a:avLst/>
          </a:prstGeom>
          <a:solidFill>
            <a:srgbClr val="C8D20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16052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원칙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마스터=품목 단가·무게(사전) / BOM=구성별 소요량(레시피) → 원가·무게 동시 산출. </a:t>
            </a:r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자주 바뀌는 보조금·원자재·옵션가를 코드가 아닌 DB로 분리하는 것이 이 프로젝트의 이유.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pPr indent="0" marL="0">
              <a:buNone/>
            </a:pPr>
            <a:r>
              <a:rPr lang="en-US" sz="13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데이터 테이블 관계도</a:t>
            </a:r>
            <a:endParaRPr lang="en-US" sz="1900" dirty="0"/>
          </a:p>
        </p:txBody>
      </p:sp>
      <p:pic>
        <p:nvPicPr>
          <p:cNvPr id="5" name="Image 0" descr="/sessions/kind-hopeful-bardeen/mnt/05. Buildup-EV/00. 기획/buildup_ev_full_db_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5147" y="1325880"/>
            <a:ext cx="4773706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옵션값·주문이 중심 · 단가표(마스터)와 구성표(BOM) 분리 · 점선=계산·서류 만들 때 참조  (원본 그림은 docs 폴더)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pPr indent="0" marL="0">
              <a:buNone/>
            </a:pPr>
            <a:r>
              <a:rPr lang="en-US" sz="13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로드맵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56816" cy="65836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389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0단계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단기 · 플래닝고 위임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1956816" cy="169164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2231136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PV5 차종 추가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옵션 추가(격벽 등)·선택 개선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로직 교체(원가→옵션기반)·견적서 출력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87168" y="1371600"/>
            <a:ext cx="1956816" cy="658368"/>
          </a:xfrm>
          <a:prstGeom prst="rect">
            <a:avLst/>
          </a:prstGeom>
          <a:solidFill>
            <a:srgbClr val="E8EC99"/>
          </a:solidFill>
          <a:ln/>
        </p:spPr>
      </p:sp>
      <p:sp>
        <p:nvSpPr>
          <p:cNvPr id="11" name="Text 9"/>
          <p:cNvSpPr/>
          <p:nvPr/>
        </p:nvSpPr>
        <p:spPr>
          <a:xfrm>
            <a:off x="2596896" y="1389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96896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7~8월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87168" y="2121408"/>
            <a:ext cx="1956816" cy="169164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2231136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화면 — 3D뷰 유지·UI 재설계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옵션 기반 견적 내재화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고객별 견적 저장(관리자 일부 동시)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1371600"/>
            <a:ext cx="1956816" cy="658368"/>
          </a:xfrm>
          <a:prstGeom prst="rect">
            <a:avLst/>
          </a:prstGeom>
          <a:solidFill>
            <a:srgbClr val="C8D200"/>
          </a:solidFill>
          <a:ln/>
        </p:spPr>
      </p:sp>
      <p:sp>
        <p:nvSpPr>
          <p:cNvPr id="16" name="Text 14"/>
          <p:cNvSpPr/>
          <p:nvPr/>
        </p:nvSpPr>
        <p:spPr>
          <a:xfrm>
            <a:off x="4718304" y="1389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18304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~9월 말 · 정부과제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2121408"/>
            <a:ext cx="1956816" cy="169164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9" name="Text 17"/>
          <p:cNvSpPr/>
          <p:nvPr/>
        </p:nvSpPr>
        <p:spPr>
          <a:xfrm>
            <a:off x="4727448" y="2231136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특장사 + 관리자 화면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부품·원자재 정밀 하중계산 → 재원표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견고한 DB가 핵심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9984" y="1371600"/>
            <a:ext cx="1956816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839712" y="1389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39712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9984" y="2121408"/>
            <a:ext cx="1956816" cy="1691640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24" name="Text 22"/>
          <p:cNvSpPr/>
          <p:nvPr/>
        </p:nvSpPr>
        <p:spPr>
          <a:xfrm>
            <a:off x="6848856" y="2231136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정밀 하중계산 고도화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차량번호·제원 자동조회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보조금 자동조회(일부 불가/유료)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2단계(특장+관리) = 9월 말까지 완료 (정부 과제 완료 조건) · 1단계 = 0단계 종료 후 ~1개월(7~8월), '월 내 사용 가능' 목표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pPr indent="0" marL="0">
              <a:buNone/>
            </a:pPr>
            <a:r>
              <a:rPr lang="en-US" sz="1300" b="1" dirty="0">
                <a:solidFill>
                  <a:srgbClr val="C8D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 개발 체제 · 포지셔닝 · 다음 안건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325880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체제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4023360" cy="1170432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783080"/>
            <a:ext cx="3767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= 준성(시스템 오너)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백엔드·배포 = 클라인 측 지원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최대 변수 = 오너 가용 리소스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384048"/>
          </a:xfrm>
          <a:prstGeom prst="rect">
            <a:avLst/>
          </a:prstGeom>
          <a:solidFill>
            <a:srgbClr val="C8D200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1325880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타당성 (확정)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709928"/>
            <a:ext cx="4023360" cy="1170432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2" name="Text 10"/>
          <p:cNvSpPr/>
          <p:nvPr/>
        </p:nvSpPr>
        <p:spPr>
          <a:xfrm>
            <a:off x="4791456" y="1783080"/>
            <a:ext cx="3767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치수→무게·원가 수식 맞춤화 가능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정확도(축중 공차 ~5kg)가 행정서류 자동화의 출발점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'감' 추정보다 우월 → 수식 기반 채택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90088"/>
            <a:ext cx="402336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99008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포지셔닝 (방향 · 미결)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74136"/>
            <a:ext cx="4023360" cy="1170432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" y="3447288"/>
            <a:ext cx="3767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판매 SaaS ✗ → 자사 판매 보조도구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확장: 내부 → 거점 특장사 설계 제공 → 표준 통일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기아·현대 영업까지 확장 가능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990088"/>
            <a:ext cx="4023360" cy="384048"/>
          </a:xfrm>
          <a:prstGeom prst="rect">
            <a:avLst/>
          </a:prstGeom>
          <a:solidFill>
            <a:srgbClr val="C8D200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99008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안건 (Action)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374136"/>
            <a:ext cx="4023360" cy="1170432"/>
          </a:xfrm>
          <a:prstGeom prst="rect">
            <a:avLst/>
          </a:prstGeom>
          <a:solidFill>
            <a:srgbClr val="F5F5F0"/>
          </a:solidFill>
          <a:ln/>
        </p:spPr>
      </p:sp>
      <p:sp>
        <p:nvSpPr>
          <p:cNvPr id="20" name="Text 18"/>
          <p:cNvSpPr/>
          <p:nvPr/>
        </p:nvSpPr>
        <p:spPr>
          <a:xfrm>
            <a:off x="4791456" y="3447288"/>
            <a:ext cx="3767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0단계 범위 플래닝고 협의 착수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오너 리소스·백엔드 지원라인 확정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BM·타깃 사용자 정의 정렬 (남주 주도)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992624"/>
            <a:ext cx="8412480" cy="36576"/>
          </a:xfrm>
          <a:prstGeom prst="rect">
            <a:avLst/>
          </a:prstGeom>
          <a:solidFill>
            <a:srgbClr val="C8D2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buildup-ev 개요</dc:title>
  <dc:subject>PptxGenJS Presentation</dc:subject>
  <dc:creator>EV&amp;Solution</dc:creator>
  <cp:lastModifiedBy>EV&amp;Solution</cp:lastModifiedBy>
  <cp:revision>1</cp:revision>
  <dcterms:created xsi:type="dcterms:W3CDTF">2026-06-19T01:15:35Z</dcterms:created>
  <dcterms:modified xsi:type="dcterms:W3CDTF">2026-06-19T01:15:35Z</dcterms:modified>
</cp:coreProperties>
</file>