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E3DB16-C1B1-4450-B280-53B810577188}">
  <a:tblStyle styleId="{A8E3DB16-C1B1-4450-B280-53B81057718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</a:t>
            </a:r>
            <a:r>
              <a:rPr b="1" i="0" lang="en-US" sz="20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178308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buildup-ev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0" y="2697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2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전기 특장차 3D 컨피규레이터 · 견적 · 발주 · 구조변경 서류 자동화 플랫폼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743200" y="3383280"/>
            <a:ext cx="3657600" cy="32004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0" y="35204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기획 개요 — 전체 틀 · 데이터 구조 · 개발 R&amp;R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EV&amp;Solution 제품개발팀 · 내부 공유용 v0.1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</a:t>
            </a:r>
            <a:r>
              <a:rPr b="1" i="0" lang="en-US" sz="13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 배경 — 왜 직접 만드나 (AS-IS → TO-BE)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AS-IS  (현재)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663440" y="1280160"/>
            <a:ext cx="4114800" cy="411480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663440" y="128016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TO-BE  (목표)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5760" y="1737360"/>
            <a:ext cx="4114800" cy="237744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48640" y="1874520"/>
            <a:ext cx="3749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외주(플래닝고)가 VIVAR SaaS 위에 만든 단일 화면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3D + 옵션패널 + 견적이 한 페이지에 통합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견적 = 특장 부품 원가(BOM) 합산 기준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소유권·확장성·데이터·견적 통제의 한계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663440" y="1737360"/>
            <a:ext cx="4114800" cy="237744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846320" y="1874520"/>
            <a:ext cx="3749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EV&amp;가 직접 개발·소유하는 웹 플랫폼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3D 시각화만 VIVAR(iframe), 나머지는 전부 EV&amp;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화면 3개로 분리 — 영업 · 특장사 · 관리자 + 권한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견적 = 고객 실구매가(보조금·세율·등록비 반영)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65760" y="4251960"/>
            <a:ext cx="64008" cy="548640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94360" y="42519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핵심 경계  </a:t>
            </a: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VIVAR = 3D 시각화 전용  /  견적·보조금·세율·서류·권한·데이터 = 100% EV&amp; 소유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</a:t>
            </a:r>
            <a:r>
              <a:rPr b="1" i="0" lang="en-US" sz="13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 전체 틀 — 3-Surface &amp; 주문 흐름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65760" y="1280160"/>
            <a:ext cx="2706624" cy="457200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365760" y="1280160"/>
            <a:ext cx="2706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영업 (Sales)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65760" y="1737360"/>
            <a:ext cx="2706624" cy="178308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75488" y="1810512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EV&amp; 영업 · 대리점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75488" y="2121408"/>
            <a:ext cx="248716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대면상담 + 옵션 선택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보조금 자격(잔여) 조회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견적 확정 → 주문 전환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218688" y="1280160"/>
            <a:ext cx="2706624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218688" y="1280160"/>
            <a:ext cx="2706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관리자 (Admin)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218688" y="1737360"/>
            <a:ext cx="2706624" cy="178308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3328416" y="1810512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EV&amp; 내부 · 중앙 관제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328416" y="2121408"/>
            <a:ext cx="248716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주문 검증·승인 (게이트)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기준 데이터 CRUD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주문·작업 진행 관제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071616" y="1280160"/>
            <a:ext cx="2706624" cy="457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071616" y="1280160"/>
            <a:ext cx="2706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특장사 (Conversion)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071616" y="1737360"/>
            <a:ext cx="2706624" cy="178308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181344" y="1810512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외주 특장사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181344" y="2121408"/>
            <a:ext cx="248716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작업지시서·승인주문 수신 → 제작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부품·원자재 원가 산정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구조변경 서류·하중계산서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65760" y="3657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주문 라이프사이클  (영업 → 관리자 검증 → 특장사)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65760" y="3931920"/>
            <a:ext cx="1051560" cy="56692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02336" y="3931920"/>
            <a:ext cx="9784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상담·견적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433779" y="3931920"/>
            <a:ext cx="256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2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837944" y="3931920"/>
            <a:ext cx="1051560" cy="56692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1874520" y="3931920"/>
            <a:ext cx="9784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보조금 조회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905963" y="3931920"/>
            <a:ext cx="256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2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310128" y="3931920"/>
            <a:ext cx="1051560" cy="56692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3346704" y="3931920"/>
            <a:ext cx="9784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견적확정·주문전환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378147" y="3931920"/>
            <a:ext cx="256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2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782312" y="3931920"/>
            <a:ext cx="1051560" cy="56692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818888" y="3931920"/>
            <a:ext cx="9784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관리자 검증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850331" y="3931920"/>
            <a:ext cx="256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2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254496" y="3931920"/>
            <a:ext cx="1051560" cy="56692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291072" y="3931920"/>
            <a:ext cx="9784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특장사 제작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322515" y="3931920"/>
            <a:ext cx="256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2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726680" y="3931920"/>
            <a:ext cx="1051560" cy="56692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7763256" y="3931920"/>
            <a:ext cx="9784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구조변경→튜닝신청→안전검사→튜닝승인→인도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</a:t>
            </a:r>
            <a:r>
              <a:rPr b="1" i="0" lang="en-US" sz="13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 시스템 모듈 맵 &amp; 소유권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65760" y="1371600"/>
            <a:ext cx="2194560" cy="246888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365760" y="1371600"/>
            <a:ext cx="2194560" cy="4114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365760" y="137160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플래닝고 (VIVAR)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02920" y="1874520"/>
            <a:ext cx="1920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M1 · 3D 컨피규레이터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옵션 → 3D 렌더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치수 산출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정면/측면/후면 도면 export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2743200" y="1371600"/>
            <a:ext cx="6035040" cy="246888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2743200" y="1371600"/>
            <a:ext cx="6035040" cy="411480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2743200" y="1371600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EV&amp; 소유 모듈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2926080" y="1874520"/>
            <a:ext cx="576072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M2 옵션 UI 패널   ·   M3 영업 견적(옵션베이스)   ·   M4 특장 원가(원가기반)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M5 하중계산·법규검토   ·   M6 서류 자동생성(제원대비표·외관도·작업지시서)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M7 주문/워크플로우   ·   M17 문서 보관함   ·   M9 인증/RBAC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M8 기준데이터 DB + 관리 CRUD   ·   M13 전자서명·계약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M14 인허가·검사 진행관리   (TS 접수는 특장사 직접)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백로그: 제원 API · 알림 · CRM   |   신용조회·결제 = buildup 외부(non-goal)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65760" y="4069080"/>
            <a:ext cx="64008" cy="548640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94360" y="40690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원칙 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VIVAR는 치수·도면만 제공 · 무게·원가·하중·견적·서류 계산은 전부 EV&amp;가 수행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</a:t>
            </a:r>
            <a:r>
              <a:rPr b="1" i="0" lang="en-US" sz="13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 데이터 흐름도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65760" y="1554480"/>
            <a:ext cx="1325880" cy="548640"/>
          </a:xfrm>
          <a:prstGeom prst="rect">
            <a:avLst/>
          </a:prstGeom>
          <a:solidFill>
            <a:srgbClr val="E8EC9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393192" y="1554480"/>
            <a:ext cx="12710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옵션 선택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(EV&amp;)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2331720" y="1554480"/>
            <a:ext cx="1417320" cy="54864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2359152" y="1554480"/>
            <a:ext cx="1362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VIVAR 3D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(플래닝고)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297680" y="1554480"/>
            <a:ext cx="1554480" cy="548640"/>
          </a:xfrm>
          <a:prstGeom prst="rect">
            <a:avLst/>
          </a:prstGeom>
          <a:solidFill>
            <a:srgbClr val="F5F5F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325112" y="1554480"/>
            <a:ext cx="14996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무게·원가 엔진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(EV&amp;)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355080" y="1554480"/>
            <a:ext cx="1143000" cy="548640"/>
          </a:xfrm>
          <a:prstGeom prst="rect">
            <a:avLst/>
          </a:prstGeom>
          <a:solidFill>
            <a:srgbClr val="F5F5F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6382512" y="1554480"/>
            <a:ext cx="10881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하중계산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680960" y="1554480"/>
            <a:ext cx="1097280" cy="548640"/>
          </a:xfrm>
          <a:prstGeom prst="rect">
            <a:avLst/>
          </a:prstGeom>
          <a:solidFill>
            <a:srgbClr val="C8D2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7708392" y="1554480"/>
            <a:ext cx="10424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제원대비표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2331720" y="2697480"/>
            <a:ext cx="1417320" cy="548640"/>
          </a:xfrm>
          <a:prstGeom prst="rect">
            <a:avLst/>
          </a:prstGeom>
          <a:solidFill>
            <a:srgbClr val="C8D2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2359152" y="2697480"/>
            <a:ext cx="1362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외관도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297680" y="2697480"/>
            <a:ext cx="1554480" cy="548640"/>
          </a:xfrm>
          <a:prstGeom prst="rect">
            <a:avLst/>
          </a:prstGeom>
          <a:solidFill>
            <a:srgbClr val="E8EC9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325112" y="2697480"/>
            <a:ext cx="14996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원자재·부품 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355080" y="2697480"/>
            <a:ext cx="1143000" cy="548640"/>
          </a:xfrm>
          <a:prstGeom prst="rect">
            <a:avLst/>
          </a:prstGeom>
          <a:solidFill>
            <a:srgbClr val="C8D2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382512" y="2697480"/>
            <a:ext cx="10881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특장 원가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65760" y="3886200"/>
            <a:ext cx="1325880" cy="548640"/>
          </a:xfrm>
          <a:prstGeom prst="rect">
            <a:avLst/>
          </a:prstGeom>
          <a:solidFill>
            <a:srgbClr val="E8EC9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393192" y="3886200"/>
            <a:ext cx="12710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가격·보조금 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(관리자)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2331720" y="3886200"/>
            <a:ext cx="1417320" cy="548640"/>
          </a:xfrm>
          <a:prstGeom prst="rect">
            <a:avLst/>
          </a:prstGeom>
          <a:solidFill>
            <a:srgbClr val="C8D2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2359152" y="3886200"/>
            <a:ext cx="1362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영업 견적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7"/>
          <p:cNvCxnSpPr/>
          <p:nvPr/>
        </p:nvCxnSpPr>
        <p:spPr>
          <a:xfrm>
            <a:off x="1691640" y="1828800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6" name="Google Shape;136;p7"/>
          <p:cNvSpPr/>
          <p:nvPr/>
        </p:nvSpPr>
        <p:spPr>
          <a:xfrm>
            <a:off x="1600200" y="1709928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옵션값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7"/>
          <p:cNvCxnSpPr/>
          <p:nvPr/>
        </p:nvCxnSpPr>
        <p:spPr>
          <a:xfrm>
            <a:off x="3749040" y="1828800"/>
            <a:ext cx="54864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" name="Google Shape;138;p7"/>
          <p:cNvSpPr/>
          <p:nvPr/>
        </p:nvSpPr>
        <p:spPr>
          <a:xfrm>
            <a:off x="3611880" y="1709928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치수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7"/>
          <p:cNvCxnSpPr/>
          <p:nvPr/>
        </p:nvCxnSpPr>
        <p:spPr>
          <a:xfrm>
            <a:off x="5852160" y="1828800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" name="Google Shape;140;p7"/>
          <p:cNvSpPr/>
          <p:nvPr/>
        </p:nvSpPr>
        <p:spPr>
          <a:xfrm>
            <a:off x="5692140" y="1709928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무게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7"/>
          <p:cNvCxnSpPr/>
          <p:nvPr/>
        </p:nvCxnSpPr>
        <p:spPr>
          <a:xfrm>
            <a:off x="7498080" y="182880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" name="Google Shape;142;p7"/>
          <p:cNvCxnSpPr/>
          <p:nvPr/>
        </p:nvCxnSpPr>
        <p:spPr>
          <a:xfrm>
            <a:off x="3035808" y="2121408"/>
            <a:ext cx="0" cy="576072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" name="Google Shape;143;p7"/>
          <p:cNvSpPr/>
          <p:nvPr/>
        </p:nvSpPr>
        <p:spPr>
          <a:xfrm>
            <a:off x="2624328" y="2290572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도면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7"/>
          <p:cNvCxnSpPr/>
          <p:nvPr/>
        </p:nvCxnSpPr>
        <p:spPr>
          <a:xfrm rot="10800000">
            <a:off x="5074920" y="2121408"/>
            <a:ext cx="0" cy="576072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5" name="Google Shape;145;p7"/>
          <p:cNvSpPr/>
          <p:nvPr/>
        </p:nvSpPr>
        <p:spPr>
          <a:xfrm>
            <a:off x="4663440" y="2290572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단가·무게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7"/>
          <p:cNvCxnSpPr/>
          <p:nvPr/>
        </p:nvCxnSpPr>
        <p:spPr>
          <a:xfrm>
            <a:off x="5349240" y="2121408"/>
            <a:ext cx="1143000" cy="576072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p7"/>
          <p:cNvSpPr/>
          <p:nvPr/>
        </p:nvSpPr>
        <p:spPr>
          <a:xfrm>
            <a:off x="5509260" y="2290572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원가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7"/>
          <p:cNvCxnSpPr/>
          <p:nvPr/>
        </p:nvCxnSpPr>
        <p:spPr>
          <a:xfrm>
            <a:off x="1024128" y="2121408"/>
            <a:ext cx="1444752" cy="1764792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" name="Google Shape;149;p7"/>
          <p:cNvSpPr/>
          <p:nvPr/>
        </p:nvSpPr>
        <p:spPr>
          <a:xfrm>
            <a:off x="1335024" y="2884932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옵션값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>
            <a:off x="1691640" y="4160520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" name="Google Shape;151;p7"/>
          <p:cNvSpPr/>
          <p:nvPr/>
        </p:nvSpPr>
        <p:spPr>
          <a:xfrm>
            <a:off x="1600200" y="4041648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+가격·보조금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플래닝고(VIVAR)   </a:t>
            </a:r>
            <a:r>
              <a:rPr b="0" i="0" lang="en-US" sz="950" u="none" cap="none" strike="noStrike">
                <a:solidFill>
                  <a:srgbClr val="F5F5F0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EV&amp; 엔진   </a:t>
            </a:r>
            <a:r>
              <a:rPr b="0" i="0" lang="en-US" sz="950" u="none" cap="none" strike="noStrike">
                <a:solidFill>
                  <a:srgbClr val="E8EC99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입력·DB   </a:t>
            </a:r>
            <a:r>
              <a:rPr b="0" i="0" lang="en-US" sz="95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산출물·견적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</a:t>
            </a:r>
            <a:r>
              <a:rPr b="1" i="0" lang="en-US" sz="13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 개발 R&amp;R — 플래닝고 vs EV&amp;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3" name="Google Shape;163;p8"/>
          <p:cNvGraphicFramePr/>
          <p:nvPr/>
        </p:nvGraphicFramePr>
        <p:xfrm>
          <a:off x="36576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{A8E3DB16-C1B1-4450-B280-53B810577188}</a:tableStyleId>
              </a:tblPr>
              <a:tblGrid>
                <a:gridCol w="2743200"/>
                <a:gridCol w="1280150"/>
                <a:gridCol w="43891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모듈 / 영역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담당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3D 컨피규레이터 (M1)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플래닝고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옵션→3D 렌더 · 치수 산출 · 정면/측면/후면 도면 export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옵션 UI · 견적 · 원가 (M2~M4)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EV&amp;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옵션 패널 · 영업견적(옵션베이스) · 특장원가(원가기반)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하중계산 · 법규 · 서류 (M5·M6)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EV&amp;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하중분포·적합판정 · 제원대비표 · 외관도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주문 · 문서 · 인증 (M7·M17·M9)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EV&amp;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워크플로우 · 문서보관함 · 권한(RBAC)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기준데이터 DB · 관리 (M8)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EV&amp;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가격·보조금·원자재·BOM·제원 CRUD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4" name="Google Shape;164;p8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365760" y="4297680"/>
            <a:ext cx="64008" cy="548640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94360" y="42976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VIVAR ↔ EV&amp; 데이터 계약 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EV&amp;→VIVAR: 옵션값  /  VIVAR→EV&amp;: 치수 set + 도면 이미지  (계산은 전부 EV&amp;)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</a:t>
            </a:r>
            <a:r>
              <a:rPr b="1" i="0" lang="en-US" sz="13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6.  데이터베이스 구조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365760" y="1280160"/>
            <a:ext cx="4206240" cy="411480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365760" y="128016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기준 데이터 — 관리자 페이지 CRUD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754880" y="1280160"/>
            <a:ext cx="4023360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4754880" y="12801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거래 데이터 — 시스템 자동 축적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365760" y="1737360"/>
            <a:ext cx="4206240" cy="2286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548640" y="1847088"/>
            <a:ext cx="384048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차종마스터 · OEM제원 · 최대허용제원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옵션그룹 / 옵션값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옵션가격(트림·탑·도어매트릭스·온도계·격벽)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보조금(지역별, 연 갱신) · 세율·등록비용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원자재·부품 마스터 · 공정·인건비 · 마진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BOM(구성표) · 타이어DB · 도면 라이브러리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754880" y="1737360"/>
            <a:ext cx="4023360" cy="2286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937760" y="1847088"/>
            <a:ext cx="36576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견적 (스냅샷)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주문 (상태머신)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주문옵션 (주문 ↔ 옵션값 M:N)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문서보관함 (자동생성 + 수동업로드)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365760" y="4160520"/>
            <a:ext cx="64008" cy="658368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594360" y="4160520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핵심 원칙  </a:t>
            </a: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마스터=품목 단가·무게(사전) / BOM=구성별 소요량(레시피) → 원가·무게 동시 산출. </a:t>
            </a:r>
            <a:r>
              <a:rPr b="1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자주 바뀌는 보조금·원자재·옵션가를 코드가 아닌 DB로 분리하는 것이 이 프로젝트의 이유.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</a:t>
            </a:r>
            <a:r>
              <a:rPr b="1" i="0" lang="en-US" sz="13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7.  DB 구성도 (ER 관계도)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kind-hopeful-bardeen/mnt/05. Buildup-EV/00. 기획/buildup_ev_full_db_er.png" id="198" name="Google Shape;1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6800" y="1073685"/>
            <a:ext cx="5170390" cy="351587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옵션값·주문이 두 허브 · 마스터↔BOM 분리 · 점선=계산/서류 시점 참조  (원본: 00.기획/buildup_ev_full_db_er.png)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</a:t>
            </a:r>
            <a:r>
              <a:rPr b="1" i="0" lang="en-US" sz="130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8.  로드맵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365760" y="1371600"/>
            <a:ext cx="2706624" cy="548640"/>
          </a:xfrm>
          <a:prstGeom prst="rect">
            <a:avLst/>
          </a:prstGeom>
          <a:solidFill>
            <a:srgbClr val="E8EC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475488" y="1371600"/>
            <a:ext cx="24871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475488" y="1463040"/>
            <a:ext cx="2487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영업 Surface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365760" y="1920240"/>
            <a:ext cx="2706624" cy="18288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493776" y="2057400"/>
            <a:ext cx="245059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3D iframe + 옵션 패널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견적 엔진(옵션베이스)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고객 ID로 견적 저장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218688" y="1371600"/>
            <a:ext cx="2706624" cy="548640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3328416" y="1371600"/>
            <a:ext cx="24871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3328416" y="1463040"/>
            <a:ext cx="2487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특장사 + 관리자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3218688" y="1920240"/>
            <a:ext cx="2706624" cy="18288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3346704" y="2057400"/>
            <a:ext cx="245059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특장 원가·서류·하중계산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관리자 DB CRUD·대시보드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CRM·고객관리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6071616" y="1371600"/>
            <a:ext cx="2706624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6181344" y="1371600"/>
            <a:ext cx="24871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6181344" y="1463040"/>
            <a:ext cx="2487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확장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6071616" y="1920240"/>
            <a:ext cx="2706624" cy="18288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6199632" y="2057400"/>
            <a:ext cx="245059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제원 API · 멀티테넌시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594360" y="40233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2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8D200"/>
                </a:solidFill>
                <a:latin typeface="Arial"/>
                <a:ea typeface="Arial"/>
                <a:cs typeface="Arial"/>
                <a:sym typeface="Arial"/>
              </a:rPr>
              <a:t>Phase 1 완료 기준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영업이 현장 상담에서 이 도구로 견적을 뽑아 고객에게 보여주고 주문으로 저장한다.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